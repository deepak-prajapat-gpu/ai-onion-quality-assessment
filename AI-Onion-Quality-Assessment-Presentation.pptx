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876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AI-Powered Onion Quality Assessment</a:t>
            </a:r>
            <a:br/>
            <a:r>
              <a:t>and Grading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15468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Standardizing Onion Quality Assessment Across Procurement Centers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663440"/>
            <a:ext cx="8138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/>
            </a:pPr>
            <a:r>
              <a:t>Team Name: __________</a:t>
            </a:r>
            <a:br/>
            <a:r>
              <a:t>Team Members: __________</a:t>
            </a:r>
            <a:br/>
            <a:r>
              <a:t>College: 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Onion quality assessment is often subjective.</a:t>
            </a:r>
          </a:p>
          <a:p>
            <a:pPr>
              <a:spcAft>
                <a:spcPts val="1200"/>
              </a:spcAft>
              <a:defRPr sz="2100"/>
            </a:pPr>
            <a:r>
              <a:t>Different procurement centers may follow inconsistent inspection practices.</a:t>
            </a:r>
          </a:p>
          <a:p>
            <a:pPr>
              <a:spcAft>
                <a:spcPts val="1200"/>
              </a:spcAft>
              <a:defRPr sz="2100"/>
            </a:pPr>
            <a:r>
              <a:t>Manual inspection can lead to differences in grading.</a:t>
            </a:r>
          </a:p>
          <a:p>
            <a:pPr>
              <a:spcAft>
                <a:spcPts val="1200"/>
              </a:spcAft>
              <a:defRPr sz="2100"/>
            </a:pPr>
            <a:r>
              <a:t>This may result in disputes between farmers, buyers, and procurement agencies.</a:t>
            </a:r>
          </a:p>
          <a:p>
            <a:pPr>
              <a:spcAft>
                <a:spcPts val="1200"/>
              </a:spcAft>
              <a:defRPr sz="2100"/>
            </a:pPr>
            <a:r>
              <a:t>A standardized digital assessment system is needed.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Develop an AI/computer-vision-based onion quality assessment system.</a:t>
            </a:r>
          </a:p>
          <a:p>
            <a:pPr>
              <a:spcAft>
                <a:spcPts val="1200"/>
              </a:spcAft>
              <a:defRPr sz="2100"/>
            </a:pPr>
            <a:r>
              <a:t>Capture or upload an onion image.</a:t>
            </a:r>
          </a:p>
          <a:p>
            <a:pPr>
              <a:spcAft>
                <a:spcPts val="1200"/>
              </a:spcAft>
              <a:defRPr sz="2100"/>
            </a:pPr>
            <a:r>
              <a:t>Analyze visible quality characteristics.</a:t>
            </a:r>
          </a:p>
          <a:p>
            <a:pPr>
              <a:spcAft>
                <a:spcPts val="1200"/>
              </a:spcAft>
              <a:defRPr sz="2100"/>
            </a:pPr>
            <a:r>
              <a:t>Detect external defects.</a:t>
            </a:r>
          </a:p>
          <a:p>
            <a:pPr>
              <a:spcAft>
                <a:spcPts val="1200"/>
              </a:spcAft>
              <a:defRPr sz="2100"/>
            </a:pPr>
            <a:r>
              <a:t>Generate a predefined quality grade.</a:t>
            </a:r>
          </a:p>
          <a:p>
            <a:pPr>
              <a:spcAft>
                <a:spcPts val="1200"/>
              </a:spcAft>
              <a:defRPr sz="2100"/>
            </a:pPr>
            <a:r>
              <a:t>Provide a digital quality report for transparency.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Standardize onion quality assessment.</a:t>
            </a:r>
          </a:p>
          <a:p>
            <a:pPr>
              <a:spcAft>
                <a:spcPts val="1200"/>
              </a:spcAft>
              <a:defRPr sz="2100"/>
            </a:pPr>
            <a:r>
              <a:t>Reduce subjectivity in visual inspection.</a:t>
            </a:r>
          </a:p>
          <a:p>
            <a:pPr>
              <a:spcAft>
                <a:spcPts val="1200"/>
              </a:spcAft>
              <a:defRPr sz="2100"/>
            </a:pPr>
            <a:r>
              <a:t>Detect visible defects automatically.</a:t>
            </a:r>
          </a:p>
          <a:p>
            <a:pPr>
              <a:spcAft>
                <a:spcPts val="1200"/>
              </a:spcAft>
              <a:defRPr sz="2100"/>
            </a:pPr>
            <a:r>
              <a:t>Provide consistent grading based on defined parameters.</a:t>
            </a:r>
          </a:p>
          <a:p>
            <a:pPr>
              <a:spcAft>
                <a:spcPts val="1200"/>
              </a:spcAft>
              <a:defRPr sz="2100"/>
            </a:pPr>
            <a:r>
              <a:t>Generate a digital record of the assessment.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Quality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Size</a:t>
            </a:r>
          </a:p>
          <a:p>
            <a:pPr>
              <a:spcAft>
                <a:spcPts val="1200"/>
              </a:spcAft>
              <a:defRPr sz="2100"/>
            </a:pPr>
            <a:r>
              <a:t>Shape</a:t>
            </a:r>
          </a:p>
          <a:p>
            <a:pPr>
              <a:spcAft>
                <a:spcPts val="1200"/>
              </a:spcAft>
              <a:defRPr sz="2100"/>
            </a:pPr>
            <a:r>
              <a:t>Color</a:t>
            </a:r>
          </a:p>
          <a:p>
            <a:pPr>
              <a:spcAft>
                <a:spcPts val="1200"/>
              </a:spcAft>
              <a:defRPr sz="2100"/>
            </a:pPr>
            <a:r>
              <a:t>Spots</a:t>
            </a:r>
          </a:p>
          <a:p>
            <a:pPr>
              <a:spcAft>
                <a:spcPts val="1200"/>
              </a:spcAft>
              <a:defRPr sz="2100"/>
            </a:pPr>
            <a:r>
              <a:t>Visible damage</a:t>
            </a:r>
          </a:p>
          <a:p>
            <a:pPr>
              <a:spcAft>
                <a:spcPts val="1200"/>
              </a:spcAft>
              <a:defRPr sz="2100"/>
            </a:pPr>
            <a:r>
              <a:t>Rot-like discoloration</a:t>
            </a:r>
          </a:p>
          <a:p>
            <a:pPr>
              <a:spcAft>
                <a:spcPts val="1200"/>
              </a:spcAft>
              <a:defRPr sz="2100"/>
            </a:pPr>
            <a:r>
              <a:t>Sprouting</a:t>
            </a:r>
          </a:p>
          <a:p>
            <a:pPr>
              <a:spcAft>
                <a:spcPts val="1200"/>
              </a:spcAft>
              <a:defRPr sz="2100"/>
            </a:pPr>
            <a:r>
              <a:t>Other external defects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2286000"/>
            <a:ext cx="141732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Onion Image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847088" y="2651760"/>
            <a:ext cx="228600" cy="3840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75688" y="2286000"/>
            <a:ext cx="141732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Capture / Upload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511296" y="2651760"/>
            <a:ext cx="228600" cy="3840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39896" y="2286000"/>
            <a:ext cx="141732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Preprocessing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175504" y="2651760"/>
            <a:ext cx="228600" cy="3840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04104" y="2286000"/>
            <a:ext cx="141732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Feature &amp;</a:t>
            </a:r>
          </a:p>
          <a:p>
            <a:r>
              <a:t>Defect Analysis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839712" y="2651760"/>
            <a:ext cx="228600" cy="3840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68312" y="2286000"/>
            <a:ext cx="141732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Quality</a:t>
            </a:r>
          </a:p>
          <a:p>
            <a:r>
              <a:t>Evaluation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503920" y="2651760"/>
            <a:ext cx="228600" cy="3840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32519" y="2286000"/>
            <a:ext cx="141732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Grade</a:t>
            </a:r>
          </a:p>
          <a:p>
            <a:r>
              <a:t>Classification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168128" y="2651760"/>
            <a:ext cx="228600" cy="3840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396728" y="2286000"/>
            <a:ext cx="141732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Digital</a:t>
            </a:r>
          </a:p>
          <a:p>
            <a:r>
              <a:t>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Programming: Python</a:t>
            </a:r>
          </a:p>
          <a:p>
            <a:pPr>
              <a:spcAft>
                <a:spcPts val="1200"/>
              </a:spcAft>
              <a:defRPr sz="2100"/>
            </a:pPr>
            <a:r>
              <a:t>Interface: Streamlit</a:t>
            </a:r>
          </a:p>
          <a:p>
            <a:pPr>
              <a:spcAft>
                <a:spcPts val="1200"/>
              </a:spcAft>
              <a:defRPr sz="2100"/>
            </a:pPr>
            <a:r>
              <a:t>Computer Vision: OpenCV</a:t>
            </a:r>
          </a:p>
          <a:p>
            <a:pPr>
              <a:spcAft>
                <a:spcPts val="1200"/>
              </a:spcAft>
              <a:defRPr sz="2100"/>
            </a:pPr>
            <a:r>
              <a:t>Image Processing: Pillow / NumPy</a:t>
            </a:r>
          </a:p>
          <a:p>
            <a:pPr>
              <a:spcAft>
                <a:spcPts val="1200"/>
              </a:spcAft>
              <a:defRPr sz="2100"/>
            </a:pPr>
            <a:r>
              <a:t>AI/ML: Classification model / rule-based prototype</a:t>
            </a:r>
          </a:p>
          <a:p>
            <a:pPr>
              <a:spcAft>
                <a:spcPts val="1200"/>
              </a:spcAft>
              <a:defRPr sz="2100"/>
            </a:pPr>
            <a:r>
              <a:t>Development Assistance: IBM Bob</a:t>
            </a:r>
          </a:p>
          <a:p>
            <a:pPr>
              <a:spcAft>
                <a:spcPts val="1200"/>
              </a:spcAft>
              <a:defRPr sz="2100"/>
            </a:pPr>
            <a:r>
              <a:t>Version Control: Git &amp;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Grade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Grade A — Good visible quality with minimal defects.</a:t>
            </a:r>
          </a:p>
          <a:p>
            <a:pPr>
              <a:spcAft>
                <a:spcPts val="1200"/>
              </a:spcAft>
              <a:defRPr sz="2100"/>
            </a:pPr>
            <a:r>
              <a:t>Grade B — Moderate visible defects.</a:t>
            </a:r>
          </a:p>
          <a:p>
            <a:pPr>
              <a:spcAft>
                <a:spcPts val="1200"/>
              </a:spcAft>
              <a:defRPr sz="2100"/>
            </a:pPr>
            <a:r>
              <a:t>Grade C — Significant visible defects.</a:t>
            </a:r>
          </a:p>
          <a:p>
            <a:pPr>
              <a:spcAft>
                <a:spcPts val="1200"/>
              </a:spcAft>
              <a:defRPr sz="2100"/>
            </a:pPr>
            <a:r>
              <a:t>Final grading criteria should be calibrated against the applicable agricultural/procurement standard.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Example output: Size — Good | Color — Good | Damage — Low | Sprouting — Not Detected | Final Grade —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Upload Onion Image</a:t>
            </a:r>
          </a:p>
          <a:p>
            <a:pPr>
              <a:spcAft>
                <a:spcPts val="1200"/>
              </a:spcAft>
              <a:defRPr sz="2100"/>
            </a:pPr>
            <a:r>
              <a:t>Image Preview</a:t>
            </a:r>
          </a:p>
          <a:p>
            <a:pPr>
              <a:spcAft>
                <a:spcPts val="1200"/>
              </a:spcAft>
              <a:defRPr sz="2100"/>
            </a:pPr>
            <a:r>
              <a:t>Quality Parameters</a:t>
            </a:r>
          </a:p>
          <a:p>
            <a:pPr>
              <a:spcAft>
                <a:spcPts val="1200"/>
              </a:spcAft>
              <a:defRPr sz="2100"/>
            </a:pPr>
            <a:r>
              <a:t>Detected Defects</a:t>
            </a:r>
          </a:p>
          <a:p>
            <a:pPr>
              <a:spcAft>
                <a:spcPts val="1200"/>
              </a:spcAft>
              <a:defRPr sz="2100"/>
            </a:pPr>
            <a:r>
              <a:t>Final Grade</a:t>
            </a:r>
          </a:p>
          <a:p>
            <a:pPr>
              <a:spcAft>
                <a:spcPts val="1200"/>
              </a:spcAft>
              <a:defRPr sz="2100"/>
            </a:pPr>
            <a:r>
              <a:t>Digital Quality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Use of IBM Bob in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Assisted in understanding project requirements.</a:t>
            </a:r>
          </a:p>
          <a:p>
            <a:pPr>
              <a:spcAft>
                <a:spcPts val="1200"/>
              </a:spcAft>
              <a:defRPr sz="2100"/>
            </a:pPr>
            <a:r>
              <a:t>Helped structure the application workflow.</a:t>
            </a:r>
          </a:p>
          <a:p>
            <a:pPr>
              <a:spcAft>
                <a:spcPts val="1200"/>
              </a:spcAft>
              <a:defRPr sz="2100"/>
            </a:pPr>
            <a:r>
              <a:t>Supported code generation and code explanation.</a:t>
            </a:r>
          </a:p>
          <a:p>
            <a:pPr>
              <a:spcAft>
                <a:spcPts val="1200"/>
              </a:spcAft>
              <a:defRPr sz="2100"/>
            </a:pPr>
            <a:r>
              <a:t>Assisted with debugging and error identification.</a:t>
            </a:r>
          </a:p>
          <a:p>
            <a:pPr>
              <a:spcAft>
                <a:spcPts val="1200"/>
              </a:spcAft>
              <a:defRPr sz="2100"/>
            </a:pPr>
            <a:r>
              <a:t>Helped develop and refine application components.</a:t>
            </a:r>
          </a:p>
          <a:p>
            <a:pPr>
              <a:spcAft>
                <a:spcPts val="1200"/>
              </a:spcAft>
              <a:defRPr sz="2100"/>
            </a:pPr>
            <a:r>
              <a:t>Supported testing and modification using natural-language instructions.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More consistent assessment</a:t>
            </a:r>
          </a:p>
          <a:p>
            <a:pPr>
              <a:spcAft>
                <a:spcPts val="1200"/>
              </a:spcAft>
              <a:defRPr sz="2100"/>
            </a:pPr>
            <a:r>
              <a:t>Reduced dependence on subjective visual inspection</a:t>
            </a:r>
          </a:p>
          <a:p>
            <a:pPr>
              <a:spcAft>
                <a:spcPts val="1200"/>
              </a:spcAft>
              <a:defRPr sz="2100"/>
            </a:pPr>
            <a:r>
              <a:t>Transparent quality reporting</a:t>
            </a:r>
          </a:p>
          <a:p>
            <a:pPr>
              <a:spcAft>
                <a:spcPts val="1200"/>
              </a:spcAft>
              <a:defRPr sz="2100"/>
            </a:pPr>
            <a:r>
              <a:t>Faster preliminary assessment</a:t>
            </a:r>
          </a:p>
          <a:p>
            <a:pPr>
              <a:spcAft>
                <a:spcPts val="1200"/>
              </a:spcAft>
              <a:defRPr sz="2100"/>
            </a:pPr>
            <a:r>
              <a:t>Digital record keeping</a:t>
            </a:r>
          </a:p>
          <a:p>
            <a:pPr>
              <a:spcAft>
                <a:spcPts val="1200"/>
              </a:spcAft>
              <a:defRPr sz="2100"/>
            </a:pPr>
            <a:r>
              <a:t>Potential to reduce grading-related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Train a dedicated deep-learning model using a large labeled onion dataset.</a:t>
            </a:r>
          </a:p>
          <a:p>
            <a:pPr>
              <a:spcAft>
                <a:spcPts val="1200"/>
              </a:spcAft>
              <a:defRPr sz="2100"/>
            </a:pPr>
            <a:r>
              <a:t>Improve defect detection accuracy.</a:t>
            </a:r>
          </a:p>
          <a:p>
            <a:pPr>
              <a:spcAft>
                <a:spcPts val="1200"/>
              </a:spcAft>
              <a:defRPr sz="2100"/>
            </a:pPr>
            <a:r>
              <a:t>Support real-time camera input.</a:t>
            </a:r>
          </a:p>
          <a:p>
            <a:pPr>
              <a:spcAft>
                <a:spcPts val="1200"/>
              </a:spcAft>
              <a:defRPr sz="2100"/>
            </a:pPr>
            <a:r>
              <a:t>Add different onion varieties.</a:t>
            </a:r>
          </a:p>
          <a:p>
            <a:pPr>
              <a:spcAft>
                <a:spcPts val="1200"/>
              </a:spcAft>
              <a:defRPr sz="2100"/>
            </a:pPr>
            <a:r>
              <a:t>Integrate validated procurement/agricultural grading standards.</a:t>
            </a:r>
          </a:p>
          <a:p>
            <a:pPr>
              <a:spcAft>
                <a:spcPts val="1200"/>
              </a:spcAft>
              <a:defRPr sz="2100"/>
            </a:pPr>
            <a:r>
              <a:t>Enable cloud-based records and analytics.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GitHub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Repository: AI-Onion-Quality-Assessment</a:t>
            </a:r>
          </a:p>
          <a:p>
            <a:pPr>
              <a:spcAft>
                <a:spcPts val="1200"/>
              </a:spcAft>
              <a:defRPr sz="2100"/>
            </a:pPr>
          </a:p>
          <a:p>
            <a:pPr>
              <a:spcAft>
                <a:spcPts val="1200"/>
              </a:spcAft>
              <a:defRPr sz="2100"/>
            </a:pPr>
            <a:r>
              <a:t>app.py</a:t>
            </a:r>
          </a:p>
          <a:p>
            <a:pPr>
              <a:spcAft>
                <a:spcPts val="1200"/>
              </a:spcAft>
              <a:defRPr sz="2100"/>
            </a:pPr>
            <a:r>
              <a:t>requirements.txt</a:t>
            </a:r>
          </a:p>
          <a:p>
            <a:pPr>
              <a:spcAft>
                <a:spcPts val="1200"/>
              </a:spcAft>
              <a:defRPr sz="2100"/>
            </a:pPr>
            <a:r>
              <a:t>README.md</a:t>
            </a:r>
          </a:p>
          <a:p>
            <a:pPr>
              <a:spcAft>
                <a:spcPts val="1200"/>
              </a:spcAft>
              <a:defRPr sz="2100"/>
            </a:pPr>
            <a:r>
              <a:t>src/ — image_processing.py, quality_analysis.py, grading.py</a:t>
            </a:r>
          </a:p>
          <a:p>
            <a:pPr>
              <a:spcAft>
                <a:spcPts val="1200"/>
              </a:spcAft>
              <a:defRPr sz="2100"/>
            </a:pPr>
            <a:r>
              <a:t>dataset/ — dataset documentation</a:t>
            </a:r>
          </a:p>
          <a:p>
            <a:pPr>
              <a:spcAft>
                <a:spcPts val="1200"/>
              </a:spcAft>
              <a:defRPr sz="2100"/>
            </a:pPr>
            <a:r>
              <a:t>test/ — test_app.py</a:t>
            </a:r>
          </a:p>
          <a:p>
            <a:pPr>
              <a:spcAft>
                <a:spcPts val="1200"/>
              </a:spcAft>
              <a:defRPr sz="2100"/>
            </a:pPr>
            <a:r>
              <a:t>docs/ — project report and presentation</a:t>
            </a:r>
          </a:p>
          <a:p>
            <a:pPr>
              <a:spcAft>
                <a:spcPts val="1200"/>
              </a:spcAft>
              <a:defRPr sz="2100"/>
            </a:pPr>
            <a:r>
              <a:t>images/ — sample onion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The proposed system aims to provide a standardized digital approach to onion quality assessment.</a:t>
            </a:r>
          </a:p>
          <a:p>
            <a:pPr>
              <a:spcAft>
                <a:spcPts val="1200"/>
              </a:spcAft>
              <a:defRPr sz="2100"/>
            </a:pPr>
            <a:r>
              <a:t>Computer vision can help evaluate visible quality characteristics consistently.</a:t>
            </a:r>
          </a:p>
          <a:p>
            <a:pPr>
              <a:spcAft>
                <a:spcPts val="1200"/>
              </a:spcAft>
              <a:defRPr sz="2100"/>
            </a:pPr>
            <a:r>
              <a:t>The system can provide a transparent preliminary grade and digital quality report.</a:t>
            </a:r>
          </a:p>
          <a:p>
            <a:pPr>
              <a:spcAft>
                <a:spcPts val="1200"/>
              </a:spcAft>
              <a:defRPr sz="2100"/>
            </a:pPr>
            <a:r>
              <a:t>With a validated dataset and grading standard, the prototype can be developed into a more robust procurement-support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